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5a6fe858a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15a6fe858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3f93be07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13f93be07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3f93be07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3f93be07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13f93be07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13f93be07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3f93be07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3f93be07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3f93be07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13f93be07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15a6fe858a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15a6fe858a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178201631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178201631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com/GageBergmann/422-Project" TargetMode="External"/><Relationship Id="rId4" Type="http://schemas.openxmlformats.org/officeDocument/2006/relationships/image" Target="../media/image1.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225325" y="1116600"/>
            <a:ext cx="56760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Unlocking Chicago:</a:t>
            </a:r>
            <a:endParaRPr b="1"/>
          </a:p>
          <a:p>
            <a:pPr indent="0" lvl="0" marL="0" rtl="0" algn="ctr">
              <a:spcBef>
                <a:spcPts val="0"/>
              </a:spcBef>
              <a:spcAft>
                <a:spcPts val="0"/>
              </a:spcAft>
              <a:buNone/>
            </a:pPr>
            <a:r>
              <a:rPr lang="en">
                <a:solidFill>
                  <a:schemeClr val="lt2"/>
                </a:solidFill>
                <a:latin typeface="Arial"/>
                <a:ea typeface="Arial"/>
                <a:cs typeface="Arial"/>
                <a:sym typeface="Arial"/>
              </a:rPr>
              <a:t>A Hidden Map Experience for City Explorers</a:t>
            </a:r>
            <a:endParaRPr>
              <a:solidFill>
                <a:schemeClr val="lt2"/>
              </a:solidFill>
              <a:latin typeface="Arial"/>
              <a:ea typeface="Arial"/>
              <a:cs typeface="Arial"/>
              <a:sym typeface="Arial"/>
            </a:endParaRPr>
          </a:p>
          <a:p>
            <a:pPr indent="0" lvl="0" marL="0" rtl="0" algn="l">
              <a:spcBef>
                <a:spcPts val="0"/>
              </a:spcBef>
              <a:spcAft>
                <a:spcPts val="0"/>
              </a:spcAft>
              <a:buNone/>
            </a:pPr>
            <a:r>
              <a:t/>
            </a:r>
            <a:endParaRPr/>
          </a:p>
        </p:txBody>
      </p:sp>
      <p:sp>
        <p:nvSpPr>
          <p:cNvPr id="135" name="Google Shape;135;p13"/>
          <p:cNvSpPr txBox="1"/>
          <p:nvPr>
            <p:ph idx="1" type="subTitle"/>
          </p:nvPr>
        </p:nvSpPr>
        <p:spPr>
          <a:xfrm>
            <a:off x="719021" y="3890050"/>
            <a:ext cx="8005500" cy="766200"/>
          </a:xfrm>
          <a:prstGeom prst="rect">
            <a:avLst/>
          </a:prstGeom>
        </p:spPr>
        <p:txBody>
          <a:bodyPr anchorCtr="0" anchor="t" bIns="91425" lIns="91425" spcFirstLastPara="1" rIns="91425" wrap="square" tIns="91425">
            <a:noAutofit/>
          </a:bodyPr>
          <a:lstStyle/>
          <a:p>
            <a:pPr indent="0" lvl="0" marL="457200" rtl="0" algn="l">
              <a:lnSpc>
                <a:spcPct val="80000"/>
              </a:lnSpc>
              <a:spcBef>
                <a:spcPts val="0"/>
              </a:spcBef>
              <a:spcAft>
                <a:spcPts val="0"/>
              </a:spcAft>
              <a:buSzPts val="440"/>
              <a:buNone/>
            </a:pPr>
            <a:r>
              <a:rPr b="1" lang="en" sz="1860">
                <a:solidFill>
                  <a:srgbClr val="F1C232"/>
                </a:solidFill>
              </a:rPr>
              <a:t>Group 8</a:t>
            </a:r>
            <a:r>
              <a:rPr b="1" lang="en" sz="1860"/>
              <a:t>:  Hasti Mehta, Gauri Khanolkar, Taha Mir, Gage Bergmann</a:t>
            </a:r>
            <a:endParaRPr b="1" sz="1860"/>
          </a:p>
          <a:p>
            <a:pPr indent="0" lvl="0" marL="0" rtl="0" algn="l">
              <a:lnSpc>
                <a:spcPct val="80000"/>
              </a:lnSpc>
              <a:spcBef>
                <a:spcPts val="0"/>
              </a:spcBef>
              <a:spcAft>
                <a:spcPts val="0"/>
              </a:spcAft>
              <a:buSzPts val="440"/>
              <a:buNone/>
            </a:pPr>
            <a:r>
              <a:t/>
            </a:r>
            <a:endParaRPr sz="720"/>
          </a:p>
        </p:txBody>
      </p:sp>
      <p:pic>
        <p:nvPicPr>
          <p:cNvPr id="136" name="Google Shape;136;p13"/>
          <p:cNvPicPr preferRelativeResize="0"/>
          <p:nvPr/>
        </p:nvPicPr>
        <p:blipFill>
          <a:blip r:embed="rId3">
            <a:alphaModFix/>
          </a:blip>
          <a:stretch>
            <a:fillRect/>
          </a:stretch>
        </p:blipFill>
        <p:spPr>
          <a:xfrm>
            <a:off x="8039300" y="144675"/>
            <a:ext cx="1025625" cy="1302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solidFill>
                  <a:schemeClr val="lt2"/>
                </a:solidFill>
              </a:rPr>
              <a:t>Requirements</a:t>
            </a:r>
            <a:endParaRPr b="1" sz="2500">
              <a:solidFill>
                <a:schemeClr val="lt2"/>
              </a:solidFill>
            </a:endParaRPr>
          </a:p>
        </p:txBody>
      </p:sp>
      <p:sp>
        <p:nvSpPr>
          <p:cNvPr id="142" name="Google Shape;142;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20000"/>
          </a:bodyPr>
          <a:lstStyle/>
          <a:p>
            <a:pPr indent="-304800" lvl="0" marL="457200" rtl="0" algn="l">
              <a:spcBef>
                <a:spcPts val="1200"/>
              </a:spcBef>
              <a:spcAft>
                <a:spcPts val="0"/>
              </a:spcAft>
              <a:buSzPts val="1200"/>
              <a:buFont typeface="Times New Roman"/>
              <a:buChar char="●"/>
            </a:pPr>
            <a:r>
              <a:rPr b="1" lang="en" sz="1200">
                <a:latin typeface="Times New Roman"/>
                <a:ea typeface="Times New Roman"/>
                <a:cs typeface="Times New Roman"/>
                <a:sym typeface="Times New Roman"/>
              </a:rPr>
              <a:t>Safe Exploration Paths:</a:t>
            </a:r>
            <a:br>
              <a:rPr b="1"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As a student or newcomer, I want the app to provide detailed information about safe, well-lit, and frequented routes to feel secure while exploring unfamiliar areas.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b="1" lang="en" sz="1200">
                <a:latin typeface="Times New Roman"/>
                <a:ea typeface="Times New Roman"/>
                <a:cs typeface="Times New Roman"/>
                <a:sym typeface="Times New Roman"/>
              </a:rPr>
              <a:t>Progress and Achievement Tracking:</a:t>
            </a:r>
            <a:br>
              <a:rPr b="1"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As a user, I want a progress tracker that shows the parts of the city I’ve uncovered and awards achievements, allowing me to celebrate my exploration journey.</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b="1" lang="en" sz="1200">
                <a:latin typeface="Times New Roman"/>
                <a:ea typeface="Times New Roman"/>
                <a:cs typeface="Times New Roman"/>
                <a:sym typeface="Times New Roman"/>
              </a:rPr>
              <a:t>Local Cultural and Historical Facts:</a:t>
            </a:r>
            <a:br>
              <a:rPr b="1"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As a history or art enthusiast, I want the app to display interesting facts about landmarks I encounter, so I feel more connected to the city’s heritage.</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b="1" lang="en" sz="1200">
                <a:latin typeface="Times New Roman"/>
                <a:ea typeface="Times New Roman"/>
                <a:cs typeface="Times New Roman"/>
                <a:sym typeface="Times New Roman"/>
              </a:rPr>
              <a:t>Social Engagement and Contribution:</a:t>
            </a:r>
            <a:br>
              <a:rPr b="1"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As a user, I want the option to upload photos of places I discover and interact with other users, so I feel part of a community of explorers.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b="1" lang="en" sz="1200">
                <a:latin typeface="Times New Roman"/>
                <a:ea typeface="Times New Roman"/>
                <a:cs typeface="Times New Roman"/>
                <a:sym typeface="Times New Roman"/>
              </a:rPr>
              <a:t>Leaderboard and Friendly Competition:</a:t>
            </a:r>
            <a:br>
              <a:rPr b="1"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As a competitive user, I want to compare my progress with others through a leaderboard and friendly challenges, which will motivate me to continue exploring.</a:t>
            </a:r>
            <a:endParaRPr/>
          </a:p>
        </p:txBody>
      </p:sp>
      <p:sp>
        <p:nvSpPr>
          <p:cNvPr id="143" name="Google Shape;143;p14"/>
          <p:cNvSpPr txBox="1"/>
          <p:nvPr/>
        </p:nvSpPr>
        <p:spPr>
          <a:xfrm>
            <a:off x="4327075" y="2845825"/>
            <a:ext cx="4840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pic>
        <p:nvPicPr>
          <p:cNvPr id="144" name="Google Shape;144;p14"/>
          <p:cNvPicPr preferRelativeResize="0"/>
          <p:nvPr/>
        </p:nvPicPr>
        <p:blipFill>
          <a:blip r:embed="rId3">
            <a:alphaModFix/>
          </a:blip>
          <a:stretch>
            <a:fillRect/>
          </a:stretch>
        </p:blipFill>
        <p:spPr>
          <a:xfrm>
            <a:off x="8039300" y="144675"/>
            <a:ext cx="1025625" cy="1302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F1C232"/>
                </a:solidFill>
              </a:rPr>
              <a:t>Persona 1 - Emily</a:t>
            </a:r>
            <a:endParaRPr b="1">
              <a:solidFill>
                <a:srgbClr val="F1C232"/>
              </a:solidFill>
            </a:endParaRPr>
          </a:p>
        </p:txBody>
      </p:sp>
      <p:sp>
        <p:nvSpPr>
          <p:cNvPr id="150" name="Google Shape;150;p15"/>
          <p:cNvSpPr txBox="1"/>
          <p:nvPr>
            <p:ph idx="1" type="body"/>
          </p:nvPr>
        </p:nvSpPr>
        <p:spPr>
          <a:xfrm>
            <a:off x="1297500" y="1063697"/>
            <a:ext cx="7038900" cy="29112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935"/>
              <a:buNone/>
            </a:pPr>
            <a:r>
              <a:t/>
            </a:r>
            <a:endParaRPr sz="1390">
              <a:latin typeface="Arial"/>
              <a:ea typeface="Arial"/>
              <a:cs typeface="Arial"/>
              <a:sym typeface="Arial"/>
            </a:endParaRPr>
          </a:p>
          <a:p>
            <a:pPr indent="-306070" lvl="0" marL="457200" rtl="0" algn="l">
              <a:lnSpc>
                <a:spcPct val="95000"/>
              </a:lnSpc>
              <a:spcBef>
                <a:spcPts val="1200"/>
              </a:spcBef>
              <a:spcAft>
                <a:spcPts val="0"/>
              </a:spcAft>
              <a:buSzPts val="1220"/>
              <a:buFont typeface="Arial"/>
              <a:buChar char="●"/>
            </a:pPr>
            <a:r>
              <a:rPr b="1" lang="en" sz="1220">
                <a:latin typeface="Arial"/>
                <a:ea typeface="Arial"/>
                <a:cs typeface="Arial"/>
                <a:sym typeface="Arial"/>
              </a:rPr>
              <a:t>Demographics:</a:t>
            </a:r>
            <a:endParaRPr b="1" sz="1220">
              <a:latin typeface="Arial"/>
              <a:ea typeface="Arial"/>
              <a:cs typeface="Arial"/>
              <a:sym typeface="Arial"/>
            </a:endParaRPr>
          </a:p>
          <a:p>
            <a:pPr indent="-306069" lvl="1" marL="914400" rtl="0" algn="l">
              <a:lnSpc>
                <a:spcPct val="95000"/>
              </a:lnSpc>
              <a:spcBef>
                <a:spcPts val="0"/>
              </a:spcBef>
              <a:spcAft>
                <a:spcPts val="0"/>
              </a:spcAft>
              <a:buSzPts val="1220"/>
              <a:buFont typeface="Times New Roman"/>
              <a:buChar char="○"/>
            </a:pPr>
            <a:r>
              <a:rPr b="1" lang="en" sz="1220">
                <a:latin typeface="Arial"/>
                <a:ea typeface="Arial"/>
                <a:cs typeface="Arial"/>
                <a:sym typeface="Arial"/>
              </a:rPr>
              <a:t>Age:</a:t>
            </a:r>
            <a:r>
              <a:rPr lang="en" sz="1220">
                <a:latin typeface="Arial"/>
                <a:ea typeface="Arial"/>
                <a:cs typeface="Arial"/>
                <a:sym typeface="Arial"/>
              </a:rPr>
              <a:t> 19</a:t>
            </a:r>
            <a:endParaRPr sz="1220">
              <a:latin typeface="Arial"/>
              <a:ea typeface="Arial"/>
              <a:cs typeface="Arial"/>
              <a:sym typeface="Arial"/>
            </a:endParaRPr>
          </a:p>
          <a:p>
            <a:pPr indent="-306069" lvl="1" marL="914400" rtl="0" algn="l">
              <a:lnSpc>
                <a:spcPct val="95000"/>
              </a:lnSpc>
              <a:spcBef>
                <a:spcPts val="0"/>
              </a:spcBef>
              <a:spcAft>
                <a:spcPts val="0"/>
              </a:spcAft>
              <a:buSzPts val="1220"/>
              <a:buFont typeface="Times New Roman"/>
              <a:buChar char="○"/>
            </a:pPr>
            <a:r>
              <a:rPr b="1" lang="en" sz="1220">
                <a:latin typeface="Arial"/>
                <a:ea typeface="Arial"/>
                <a:cs typeface="Arial"/>
                <a:sym typeface="Arial"/>
              </a:rPr>
              <a:t>Gender:</a:t>
            </a:r>
            <a:r>
              <a:rPr lang="en" sz="1220">
                <a:latin typeface="Arial"/>
                <a:ea typeface="Arial"/>
                <a:cs typeface="Arial"/>
                <a:sym typeface="Arial"/>
              </a:rPr>
              <a:t> Female</a:t>
            </a:r>
            <a:endParaRPr sz="1220">
              <a:latin typeface="Arial"/>
              <a:ea typeface="Arial"/>
              <a:cs typeface="Arial"/>
              <a:sym typeface="Arial"/>
            </a:endParaRPr>
          </a:p>
          <a:p>
            <a:pPr indent="-306069" lvl="1" marL="914400" rtl="0" algn="l">
              <a:lnSpc>
                <a:spcPct val="95000"/>
              </a:lnSpc>
              <a:spcBef>
                <a:spcPts val="0"/>
              </a:spcBef>
              <a:spcAft>
                <a:spcPts val="0"/>
              </a:spcAft>
              <a:buSzPts val="1220"/>
              <a:buFont typeface="Times New Roman"/>
              <a:buChar char="○"/>
            </a:pPr>
            <a:r>
              <a:rPr b="1" lang="en" sz="1220">
                <a:latin typeface="Arial"/>
                <a:ea typeface="Arial"/>
                <a:cs typeface="Arial"/>
                <a:sym typeface="Arial"/>
              </a:rPr>
              <a:t>Ethnicity:</a:t>
            </a:r>
            <a:r>
              <a:rPr lang="en" sz="1220">
                <a:latin typeface="Arial"/>
                <a:ea typeface="Arial"/>
                <a:cs typeface="Arial"/>
                <a:sym typeface="Arial"/>
              </a:rPr>
              <a:t> Hispanic</a:t>
            </a:r>
            <a:endParaRPr sz="1220">
              <a:latin typeface="Arial"/>
              <a:ea typeface="Arial"/>
              <a:cs typeface="Arial"/>
              <a:sym typeface="Arial"/>
            </a:endParaRPr>
          </a:p>
          <a:p>
            <a:pPr indent="-306069" lvl="1" marL="914400" rtl="0" algn="l">
              <a:lnSpc>
                <a:spcPct val="95000"/>
              </a:lnSpc>
              <a:spcBef>
                <a:spcPts val="0"/>
              </a:spcBef>
              <a:spcAft>
                <a:spcPts val="0"/>
              </a:spcAft>
              <a:buSzPts val="1220"/>
              <a:buFont typeface="Times New Roman"/>
              <a:buChar char="○"/>
            </a:pPr>
            <a:r>
              <a:rPr b="1" lang="en" sz="1220">
                <a:latin typeface="Arial"/>
                <a:ea typeface="Arial"/>
                <a:cs typeface="Arial"/>
                <a:sym typeface="Arial"/>
              </a:rPr>
              <a:t>Occupation:</a:t>
            </a:r>
            <a:r>
              <a:rPr lang="en" sz="1220">
                <a:latin typeface="Arial"/>
                <a:ea typeface="Arial"/>
                <a:cs typeface="Arial"/>
                <a:sym typeface="Arial"/>
              </a:rPr>
              <a:t> Undergraduate student</a:t>
            </a:r>
            <a:endParaRPr sz="1220">
              <a:latin typeface="Arial"/>
              <a:ea typeface="Arial"/>
              <a:cs typeface="Arial"/>
              <a:sym typeface="Arial"/>
            </a:endParaRPr>
          </a:p>
          <a:p>
            <a:pPr indent="-306069" lvl="1" marL="914400" rtl="0" algn="l">
              <a:lnSpc>
                <a:spcPct val="95000"/>
              </a:lnSpc>
              <a:spcBef>
                <a:spcPts val="0"/>
              </a:spcBef>
              <a:spcAft>
                <a:spcPts val="0"/>
              </a:spcAft>
              <a:buSzPts val="1220"/>
              <a:buFont typeface="Times New Roman"/>
              <a:buChar char="○"/>
            </a:pPr>
            <a:r>
              <a:rPr b="1" lang="en" sz="1220">
                <a:latin typeface="Arial"/>
                <a:ea typeface="Arial"/>
                <a:cs typeface="Arial"/>
                <a:sym typeface="Arial"/>
              </a:rPr>
              <a:t>Location:</a:t>
            </a:r>
            <a:r>
              <a:rPr lang="en" sz="1220">
                <a:latin typeface="Arial"/>
                <a:ea typeface="Arial"/>
                <a:cs typeface="Arial"/>
                <a:sym typeface="Arial"/>
              </a:rPr>
              <a:t> Recently moved to Chicago from a rural area for college</a:t>
            </a:r>
            <a:endParaRPr sz="1220">
              <a:latin typeface="Arial"/>
              <a:ea typeface="Arial"/>
              <a:cs typeface="Arial"/>
              <a:sym typeface="Arial"/>
            </a:endParaRPr>
          </a:p>
          <a:p>
            <a:pPr indent="-306070" lvl="0" marL="457200" rtl="0" algn="l">
              <a:lnSpc>
                <a:spcPct val="95000"/>
              </a:lnSpc>
              <a:spcBef>
                <a:spcPts val="0"/>
              </a:spcBef>
              <a:spcAft>
                <a:spcPts val="0"/>
              </a:spcAft>
              <a:buSzPts val="1220"/>
              <a:buFont typeface="Arial"/>
              <a:buChar char="●"/>
            </a:pPr>
            <a:r>
              <a:rPr b="1" lang="en" sz="1220">
                <a:latin typeface="Arial"/>
                <a:ea typeface="Arial"/>
                <a:cs typeface="Arial"/>
                <a:sym typeface="Arial"/>
              </a:rPr>
              <a:t>Goals:</a:t>
            </a:r>
            <a:endParaRPr b="1" sz="1220">
              <a:latin typeface="Arial"/>
              <a:ea typeface="Arial"/>
              <a:cs typeface="Arial"/>
              <a:sym typeface="Arial"/>
            </a:endParaRPr>
          </a:p>
          <a:p>
            <a:pPr indent="-306069" lvl="1" marL="914400" rtl="0" algn="l">
              <a:lnSpc>
                <a:spcPct val="95000"/>
              </a:lnSpc>
              <a:spcBef>
                <a:spcPts val="0"/>
              </a:spcBef>
              <a:spcAft>
                <a:spcPts val="0"/>
              </a:spcAft>
              <a:buSzPts val="1220"/>
              <a:buFont typeface="Arial"/>
              <a:buChar char="○"/>
            </a:pPr>
            <a:r>
              <a:rPr lang="en" sz="1220">
                <a:latin typeface="Arial"/>
                <a:ea typeface="Arial"/>
                <a:cs typeface="Arial"/>
                <a:sym typeface="Arial"/>
              </a:rPr>
              <a:t>To become familiar with Chicago's cultural, historical, and hidden locations at her own pace</a:t>
            </a:r>
            <a:endParaRPr sz="1220">
              <a:latin typeface="Arial"/>
              <a:ea typeface="Arial"/>
              <a:cs typeface="Arial"/>
              <a:sym typeface="Arial"/>
            </a:endParaRPr>
          </a:p>
          <a:p>
            <a:pPr indent="-306069" lvl="1" marL="914400" rtl="0" algn="l">
              <a:lnSpc>
                <a:spcPct val="95000"/>
              </a:lnSpc>
              <a:spcBef>
                <a:spcPts val="0"/>
              </a:spcBef>
              <a:spcAft>
                <a:spcPts val="0"/>
              </a:spcAft>
              <a:buSzPts val="1220"/>
              <a:buFont typeface="Arial"/>
              <a:buChar char="○"/>
            </a:pPr>
            <a:r>
              <a:rPr lang="en" sz="1220">
                <a:latin typeface="Arial"/>
                <a:ea typeface="Arial"/>
                <a:cs typeface="Arial"/>
                <a:sym typeface="Arial"/>
              </a:rPr>
              <a:t>To find local hangouts and safe places to explore near her college</a:t>
            </a:r>
            <a:endParaRPr sz="1220">
              <a:latin typeface="Arial"/>
              <a:ea typeface="Arial"/>
              <a:cs typeface="Arial"/>
              <a:sym typeface="Arial"/>
            </a:endParaRPr>
          </a:p>
          <a:p>
            <a:pPr indent="-306070" lvl="0" marL="457200" rtl="0" algn="l">
              <a:lnSpc>
                <a:spcPct val="95000"/>
              </a:lnSpc>
              <a:spcBef>
                <a:spcPts val="0"/>
              </a:spcBef>
              <a:spcAft>
                <a:spcPts val="0"/>
              </a:spcAft>
              <a:buSzPts val="1220"/>
              <a:buFont typeface="Arial"/>
              <a:buChar char="●"/>
            </a:pPr>
            <a:r>
              <a:rPr b="1" lang="en" sz="1220">
                <a:latin typeface="Arial"/>
                <a:ea typeface="Arial"/>
                <a:cs typeface="Arial"/>
                <a:sym typeface="Arial"/>
              </a:rPr>
              <a:t>Frustrations:</a:t>
            </a:r>
            <a:endParaRPr b="1" sz="1220">
              <a:latin typeface="Arial"/>
              <a:ea typeface="Arial"/>
              <a:cs typeface="Arial"/>
              <a:sym typeface="Arial"/>
            </a:endParaRPr>
          </a:p>
          <a:p>
            <a:pPr indent="-306069" lvl="1" marL="914400" rtl="0" algn="l">
              <a:lnSpc>
                <a:spcPct val="95000"/>
              </a:lnSpc>
              <a:spcBef>
                <a:spcPts val="0"/>
              </a:spcBef>
              <a:spcAft>
                <a:spcPts val="0"/>
              </a:spcAft>
              <a:buSzPts val="1220"/>
              <a:buFont typeface="Arial"/>
              <a:buChar char="○"/>
            </a:pPr>
            <a:r>
              <a:rPr lang="en" sz="1220">
                <a:latin typeface="Arial"/>
                <a:ea typeface="Arial"/>
                <a:cs typeface="Arial"/>
                <a:sym typeface="Arial"/>
              </a:rPr>
              <a:t>Finds large cities overwhelming and gets disoriented without clear guidance</a:t>
            </a:r>
            <a:endParaRPr sz="1220">
              <a:latin typeface="Arial"/>
              <a:ea typeface="Arial"/>
              <a:cs typeface="Arial"/>
              <a:sym typeface="Arial"/>
            </a:endParaRPr>
          </a:p>
          <a:p>
            <a:pPr indent="-306069" lvl="1" marL="914400" rtl="0" algn="l">
              <a:lnSpc>
                <a:spcPct val="95000"/>
              </a:lnSpc>
              <a:spcBef>
                <a:spcPts val="0"/>
              </a:spcBef>
              <a:spcAft>
                <a:spcPts val="0"/>
              </a:spcAft>
              <a:buSzPts val="1220"/>
              <a:buFont typeface="Arial"/>
              <a:buChar char="○"/>
            </a:pPr>
            <a:r>
              <a:rPr lang="en" sz="1220">
                <a:latin typeface="Arial"/>
                <a:ea typeface="Arial"/>
                <a:cs typeface="Arial"/>
                <a:sym typeface="Arial"/>
              </a:rPr>
              <a:t>Prefers to explore areas known to be safe and popular among her peers</a:t>
            </a:r>
            <a:endParaRPr sz="1220">
              <a:latin typeface="Arial"/>
              <a:ea typeface="Arial"/>
              <a:cs typeface="Arial"/>
              <a:sym typeface="Arial"/>
            </a:endParaRPr>
          </a:p>
          <a:p>
            <a:pPr indent="-306070" lvl="0" marL="457200" rtl="0" algn="l">
              <a:lnSpc>
                <a:spcPct val="95000"/>
              </a:lnSpc>
              <a:spcBef>
                <a:spcPts val="0"/>
              </a:spcBef>
              <a:spcAft>
                <a:spcPts val="0"/>
              </a:spcAft>
              <a:buSzPts val="1220"/>
              <a:buFont typeface="Arial"/>
              <a:buChar char="●"/>
            </a:pPr>
            <a:r>
              <a:rPr b="1" lang="en" sz="1220">
                <a:latin typeface="Arial"/>
                <a:ea typeface="Arial"/>
                <a:cs typeface="Arial"/>
                <a:sym typeface="Arial"/>
              </a:rPr>
              <a:t>Motivations:</a:t>
            </a:r>
            <a:endParaRPr b="1" sz="1220">
              <a:latin typeface="Arial"/>
              <a:ea typeface="Arial"/>
              <a:cs typeface="Arial"/>
              <a:sym typeface="Arial"/>
            </a:endParaRPr>
          </a:p>
          <a:p>
            <a:pPr indent="-306069" lvl="1" marL="914400" rtl="0" algn="l">
              <a:lnSpc>
                <a:spcPct val="95000"/>
              </a:lnSpc>
              <a:spcBef>
                <a:spcPts val="0"/>
              </a:spcBef>
              <a:spcAft>
                <a:spcPts val="0"/>
              </a:spcAft>
              <a:buSzPts val="1220"/>
              <a:buFont typeface="Arial"/>
              <a:buChar char="○"/>
            </a:pPr>
            <a:r>
              <a:rPr lang="en" sz="1220">
                <a:latin typeface="Arial"/>
                <a:ea typeface="Arial"/>
                <a:cs typeface="Arial"/>
                <a:sym typeface="Arial"/>
              </a:rPr>
              <a:t>Wants to feel independent and secure navigating a new city</a:t>
            </a:r>
            <a:endParaRPr sz="1220">
              <a:latin typeface="Arial"/>
              <a:ea typeface="Arial"/>
              <a:cs typeface="Arial"/>
              <a:sym typeface="Arial"/>
            </a:endParaRPr>
          </a:p>
          <a:p>
            <a:pPr indent="-306069" lvl="1" marL="914400" rtl="0" algn="l">
              <a:lnSpc>
                <a:spcPct val="95000"/>
              </a:lnSpc>
              <a:spcBef>
                <a:spcPts val="0"/>
              </a:spcBef>
              <a:spcAft>
                <a:spcPts val="0"/>
              </a:spcAft>
              <a:buSzPts val="1220"/>
              <a:buFont typeface="Arial"/>
              <a:buChar char="○"/>
            </a:pPr>
            <a:r>
              <a:rPr lang="en" sz="1220">
                <a:latin typeface="Arial"/>
                <a:ea typeface="Arial"/>
                <a:cs typeface="Arial"/>
                <a:sym typeface="Arial"/>
              </a:rPr>
              <a:t>Enjoys discovering lesser-known places that provide unique experiences</a:t>
            </a:r>
            <a:endParaRPr sz="1135">
              <a:latin typeface="Arial"/>
              <a:ea typeface="Arial"/>
              <a:cs typeface="Arial"/>
              <a:sym typeface="Arial"/>
            </a:endParaRPr>
          </a:p>
        </p:txBody>
      </p:sp>
      <p:pic>
        <p:nvPicPr>
          <p:cNvPr id="151" name="Google Shape;151;p15"/>
          <p:cNvPicPr preferRelativeResize="0"/>
          <p:nvPr/>
        </p:nvPicPr>
        <p:blipFill>
          <a:blip r:embed="rId3">
            <a:alphaModFix/>
          </a:blip>
          <a:stretch>
            <a:fillRect/>
          </a:stretch>
        </p:blipFill>
        <p:spPr>
          <a:xfrm>
            <a:off x="8039300" y="144675"/>
            <a:ext cx="1025625" cy="1302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F1C232"/>
                </a:solidFill>
              </a:rPr>
              <a:t>Persona 2 - Sarah</a:t>
            </a:r>
            <a:endParaRPr b="1">
              <a:solidFill>
                <a:srgbClr val="F1C232"/>
              </a:solidFill>
            </a:endParaRPr>
          </a:p>
        </p:txBody>
      </p:sp>
      <p:sp>
        <p:nvSpPr>
          <p:cNvPr id="157" name="Google Shape;157;p16"/>
          <p:cNvSpPr txBox="1"/>
          <p:nvPr>
            <p:ph idx="1" type="body"/>
          </p:nvPr>
        </p:nvSpPr>
        <p:spPr>
          <a:xfrm>
            <a:off x="1297500" y="1063697"/>
            <a:ext cx="7038900" cy="2911200"/>
          </a:xfrm>
          <a:prstGeom prst="rect">
            <a:avLst/>
          </a:prstGeom>
        </p:spPr>
        <p:txBody>
          <a:bodyPr anchorCtr="0" anchor="t" bIns="91425" lIns="91425" spcFirstLastPara="1" rIns="91425" wrap="square" tIns="91425">
            <a:noAutofit/>
          </a:bodyPr>
          <a:lstStyle/>
          <a:p>
            <a:pPr indent="-304800" lvl="1" marL="914400" rtl="0" algn="l">
              <a:spcBef>
                <a:spcPts val="1200"/>
              </a:spcBef>
              <a:spcAft>
                <a:spcPts val="0"/>
              </a:spcAft>
              <a:buSzPts val="1200"/>
              <a:buFont typeface="Arial"/>
              <a:buChar char="○"/>
            </a:pPr>
            <a:r>
              <a:rPr b="1" lang="en" sz="1200">
                <a:latin typeface="Arial"/>
                <a:ea typeface="Arial"/>
                <a:cs typeface="Arial"/>
                <a:sym typeface="Arial"/>
              </a:rPr>
              <a:t>Demographics:</a:t>
            </a:r>
            <a:endParaRPr b="1" sz="1200">
              <a:latin typeface="Arial"/>
              <a:ea typeface="Arial"/>
              <a:cs typeface="Arial"/>
              <a:sym typeface="Arial"/>
            </a:endParaRPr>
          </a:p>
          <a:p>
            <a:pPr indent="-304800" lvl="2" marL="1371600" rtl="0" algn="l">
              <a:spcBef>
                <a:spcPts val="0"/>
              </a:spcBef>
              <a:spcAft>
                <a:spcPts val="0"/>
              </a:spcAft>
              <a:buSzPts val="1200"/>
              <a:buFont typeface="Times New Roman"/>
              <a:buChar char="■"/>
            </a:pPr>
            <a:r>
              <a:rPr b="1" lang="en" sz="1200">
                <a:latin typeface="Arial"/>
                <a:ea typeface="Arial"/>
                <a:cs typeface="Arial"/>
                <a:sym typeface="Arial"/>
              </a:rPr>
              <a:t>Age:</a:t>
            </a:r>
            <a:r>
              <a:rPr lang="en" sz="1200">
                <a:latin typeface="Arial"/>
                <a:ea typeface="Arial"/>
                <a:cs typeface="Arial"/>
                <a:sym typeface="Arial"/>
              </a:rPr>
              <a:t> 24</a:t>
            </a:r>
            <a:endParaRPr sz="1200">
              <a:latin typeface="Arial"/>
              <a:ea typeface="Arial"/>
              <a:cs typeface="Arial"/>
              <a:sym typeface="Arial"/>
            </a:endParaRPr>
          </a:p>
          <a:p>
            <a:pPr indent="-304800" lvl="2" marL="1371600" rtl="0" algn="l">
              <a:spcBef>
                <a:spcPts val="0"/>
              </a:spcBef>
              <a:spcAft>
                <a:spcPts val="0"/>
              </a:spcAft>
              <a:buSzPts val="1200"/>
              <a:buFont typeface="Times New Roman"/>
              <a:buChar char="■"/>
            </a:pPr>
            <a:r>
              <a:rPr b="1" lang="en" sz="1200">
                <a:latin typeface="Arial"/>
                <a:ea typeface="Arial"/>
                <a:cs typeface="Arial"/>
                <a:sym typeface="Arial"/>
              </a:rPr>
              <a:t>Gender:</a:t>
            </a:r>
            <a:r>
              <a:rPr lang="en" sz="1200">
                <a:latin typeface="Arial"/>
                <a:ea typeface="Arial"/>
                <a:cs typeface="Arial"/>
                <a:sym typeface="Arial"/>
              </a:rPr>
              <a:t> Male</a:t>
            </a:r>
            <a:endParaRPr sz="1200">
              <a:latin typeface="Arial"/>
              <a:ea typeface="Arial"/>
              <a:cs typeface="Arial"/>
              <a:sym typeface="Arial"/>
            </a:endParaRPr>
          </a:p>
          <a:p>
            <a:pPr indent="-304800" lvl="2" marL="1371600" rtl="0" algn="l">
              <a:spcBef>
                <a:spcPts val="0"/>
              </a:spcBef>
              <a:spcAft>
                <a:spcPts val="0"/>
              </a:spcAft>
              <a:buSzPts val="1200"/>
              <a:buFont typeface="Times New Roman"/>
              <a:buChar char="■"/>
            </a:pPr>
            <a:r>
              <a:rPr b="1" lang="en" sz="1200">
                <a:latin typeface="Arial"/>
                <a:ea typeface="Arial"/>
                <a:cs typeface="Arial"/>
                <a:sym typeface="Arial"/>
              </a:rPr>
              <a:t>Ethnicity:</a:t>
            </a:r>
            <a:r>
              <a:rPr lang="en" sz="1200">
                <a:latin typeface="Arial"/>
                <a:ea typeface="Arial"/>
                <a:cs typeface="Arial"/>
                <a:sym typeface="Arial"/>
              </a:rPr>
              <a:t> Middle Eastern</a:t>
            </a:r>
            <a:endParaRPr sz="1200">
              <a:latin typeface="Arial"/>
              <a:ea typeface="Arial"/>
              <a:cs typeface="Arial"/>
              <a:sym typeface="Arial"/>
            </a:endParaRPr>
          </a:p>
          <a:p>
            <a:pPr indent="-304800" lvl="2" marL="1371600" rtl="0" algn="l">
              <a:spcBef>
                <a:spcPts val="0"/>
              </a:spcBef>
              <a:spcAft>
                <a:spcPts val="0"/>
              </a:spcAft>
              <a:buSzPts val="1200"/>
              <a:buFont typeface="Times New Roman"/>
              <a:buChar char="■"/>
            </a:pPr>
            <a:r>
              <a:rPr b="1" lang="en" sz="1200">
                <a:latin typeface="Arial"/>
                <a:ea typeface="Arial"/>
                <a:cs typeface="Arial"/>
                <a:sym typeface="Arial"/>
              </a:rPr>
              <a:t>Occupation:</a:t>
            </a:r>
            <a:r>
              <a:rPr lang="en" sz="1200">
                <a:latin typeface="Arial"/>
                <a:ea typeface="Arial"/>
                <a:cs typeface="Arial"/>
                <a:sym typeface="Arial"/>
              </a:rPr>
              <a:t> Junior software developer</a:t>
            </a:r>
            <a:endParaRPr sz="1200">
              <a:latin typeface="Arial"/>
              <a:ea typeface="Arial"/>
              <a:cs typeface="Arial"/>
              <a:sym typeface="Arial"/>
            </a:endParaRPr>
          </a:p>
          <a:p>
            <a:pPr indent="-304800" lvl="2" marL="1371600" rtl="0" algn="l">
              <a:spcBef>
                <a:spcPts val="0"/>
              </a:spcBef>
              <a:spcAft>
                <a:spcPts val="0"/>
              </a:spcAft>
              <a:buSzPts val="1200"/>
              <a:buFont typeface="Times New Roman"/>
              <a:buChar char="■"/>
            </a:pPr>
            <a:r>
              <a:rPr b="1" lang="en" sz="1200">
                <a:latin typeface="Arial"/>
                <a:ea typeface="Arial"/>
                <a:cs typeface="Arial"/>
                <a:sym typeface="Arial"/>
              </a:rPr>
              <a:t>Location:</a:t>
            </a:r>
            <a:r>
              <a:rPr lang="en" sz="1200">
                <a:latin typeface="Arial"/>
                <a:ea typeface="Arial"/>
                <a:cs typeface="Arial"/>
                <a:sym typeface="Arial"/>
              </a:rPr>
              <a:t> Recently relocated to Chicago for a new job</a:t>
            </a:r>
            <a:endParaRPr sz="1200">
              <a:latin typeface="Arial"/>
              <a:ea typeface="Arial"/>
              <a:cs typeface="Arial"/>
              <a:sym typeface="Arial"/>
            </a:endParaRPr>
          </a:p>
          <a:p>
            <a:pPr indent="-304800" lvl="1" marL="914400" rtl="0" algn="l">
              <a:spcBef>
                <a:spcPts val="0"/>
              </a:spcBef>
              <a:spcAft>
                <a:spcPts val="0"/>
              </a:spcAft>
              <a:buSzPts val="1200"/>
              <a:buFont typeface="Arial"/>
              <a:buChar char="○"/>
            </a:pPr>
            <a:r>
              <a:rPr b="1" lang="en" sz="1200">
                <a:latin typeface="Arial"/>
                <a:ea typeface="Arial"/>
                <a:cs typeface="Arial"/>
                <a:sym typeface="Arial"/>
              </a:rPr>
              <a:t>Goals:</a:t>
            </a:r>
            <a:endParaRPr b="1" sz="1200">
              <a:latin typeface="Arial"/>
              <a:ea typeface="Arial"/>
              <a:cs typeface="Arial"/>
              <a:sym typeface="Arial"/>
            </a:endParaRPr>
          </a:p>
          <a:p>
            <a:pPr indent="-304800" lvl="2" marL="1371600" rtl="0" algn="l">
              <a:spcBef>
                <a:spcPts val="0"/>
              </a:spcBef>
              <a:spcAft>
                <a:spcPts val="0"/>
              </a:spcAft>
              <a:buSzPts val="1200"/>
              <a:buFont typeface="Arial"/>
              <a:buChar char="■"/>
            </a:pPr>
            <a:r>
              <a:rPr lang="en" sz="1200">
                <a:latin typeface="Arial"/>
                <a:ea typeface="Arial"/>
                <a:cs typeface="Arial"/>
                <a:sym typeface="Arial"/>
              </a:rPr>
              <a:t>To explore neighborhoods outside of his immediate area to feel more settled and connected</a:t>
            </a:r>
            <a:endParaRPr sz="1200">
              <a:latin typeface="Arial"/>
              <a:ea typeface="Arial"/>
              <a:cs typeface="Arial"/>
              <a:sym typeface="Arial"/>
            </a:endParaRPr>
          </a:p>
          <a:p>
            <a:pPr indent="-304800" lvl="2" marL="1371600" rtl="0" algn="l">
              <a:spcBef>
                <a:spcPts val="0"/>
              </a:spcBef>
              <a:spcAft>
                <a:spcPts val="0"/>
              </a:spcAft>
              <a:buSzPts val="1200"/>
              <a:buFont typeface="Arial"/>
              <a:buChar char="■"/>
            </a:pPr>
            <a:r>
              <a:rPr lang="en" sz="1200">
                <a:latin typeface="Arial"/>
                <a:ea typeface="Arial"/>
                <a:cs typeface="Arial"/>
                <a:sym typeface="Arial"/>
              </a:rPr>
              <a:t>To locate activities and landmarks that align with his interests in history and art</a:t>
            </a:r>
            <a:endParaRPr sz="1200">
              <a:latin typeface="Arial"/>
              <a:ea typeface="Arial"/>
              <a:cs typeface="Arial"/>
              <a:sym typeface="Arial"/>
            </a:endParaRPr>
          </a:p>
          <a:p>
            <a:pPr indent="-304800" lvl="1" marL="914400" rtl="0" algn="l">
              <a:spcBef>
                <a:spcPts val="0"/>
              </a:spcBef>
              <a:spcAft>
                <a:spcPts val="0"/>
              </a:spcAft>
              <a:buSzPts val="1200"/>
              <a:buFont typeface="Arial"/>
              <a:buChar char="○"/>
            </a:pPr>
            <a:r>
              <a:rPr b="1" lang="en" sz="1200">
                <a:latin typeface="Arial"/>
                <a:ea typeface="Arial"/>
                <a:cs typeface="Arial"/>
                <a:sym typeface="Arial"/>
              </a:rPr>
              <a:t>Frustrations:</a:t>
            </a:r>
            <a:endParaRPr b="1" sz="1200">
              <a:latin typeface="Arial"/>
              <a:ea typeface="Arial"/>
              <a:cs typeface="Arial"/>
              <a:sym typeface="Arial"/>
            </a:endParaRPr>
          </a:p>
          <a:p>
            <a:pPr indent="-304800" lvl="2" marL="1371600" rtl="0" algn="l">
              <a:spcBef>
                <a:spcPts val="0"/>
              </a:spcBef>
              <a:spcAft>
                <a:spcPts val="0"/>
              </a:spcAft>
              <a:buSzPts val="1200"/>
              <a:buFont typeface="Arial"/>
              <a:buChar char="■"/>
            </a:pPr>
            <a:r>
              <a:rPr lang="en" sz="1200">
                <a:latin typeface="Arial"/>
                <a:ea typeface="Arial"/>
                <a:cs typeface="Arial"/>
                <a:sym typeface="Arial"/>
              </a:rPr>
              <a:t>Limited free time outside of work, which makes planning difficult</a:t>
            </a:r>
            <a:endParaRPr sz="1200">
              <a:latin typeface="Arial"/>
              <a:ea typeface="Arial"/>
              <a:cs typeface="Arial"/>
              <a:sym typeface="Arial"/>
            </a:endParaRPr>
          </a:p>
          <a:p>
            <a:pPr indent="-304800" lvl="2" marL="1371600" rtl="0" algn="l">
              <a:spcBef>
                <a:spcPts val="0"/>
              </a:spcBef>
              <a:spcAft>
                <a:spcPts val="0"/>
              </a:spcAft>
              <a:buSzPts val="1200"/>
              <a:buFont typeface="Arial"/>
              <a:buChar char="■"/>
            </a:pPr>
            <a:r>
              <a:rPr lang="en" sz="1200">
                <a:latin typeface="Arial"/>
                <a:ea typeface="Arial"/>
                <a:cs typeface="Arial"/>
                <a:sym typeface="Arial"/>
              </a:rPr>
              <a:t>Finds general navigation apps uninspiring, lacking cultural or historical context</a:t>
            </a:r>
            <a:endParaRPr sz="1200">
              <a:latin typeface="Arial"/>
              <a:ea typeface="Arial"/>
              <a:cs typeface="Arial"/>
              <a:sym typeface="Arial"/>
            </a:endParaRPr>
          </a:p>
          <a:p>
            <a:pPr indent="-304800" lvl="1" marL="914400" rtl="0" algn="l">
              <a:spcBef>
                <a:spcPts val="0"/>
              </a:spcBef>
              <a:spcAft>
                <a:spcPts val="0"/>
              </a:spcAft>
              <a:buSzPts val="1200"/>
              <a:buFont typeface="Arial"/>
              <a:buChar char="○"/>
            </a:pPr>
            <a:r>
              <a:rPr b="1" lang="en" sz="1200">
                <a:latin typeface="Arial"/>
                <a:ea typeface="Arial"/>
                <a:cs typeface="Arial"/>
                <a:sym typeface="Arial"/>
              </a:rPr>
              <a:t>Motivations:</a:t>
            </a:r>
            <a:endParaRPr b="1" sz="1200">
              <a:latin typeface="Arial"/>
              <a:ea typeface="Arial"/>
              <a:cs typeface="Arial"/>
              <a:sym typeface="Arial"/>
            </a:endParaRPr>
          </a:p>
          <a:p>
            <a:pPr indent="-304800" lvl="2" marL="1371600" rtl="0" algn="l">
              <a:spcBef>
                <a:spcPts val="0"/>
              </a:spcBef>
              <a:spcAft>
                <a:spcPts val="0"/>
              </a:spcAft>
              <a:buSzPts val="1200"/>
              <a:buFont typeface="Arial"/>
              <a:buChar char="■"/>
            </a:pPr>
            <a:r>
              <a:rPr lang="en" sz="1200">
                <a:latin typeface="Arial"/>
                <a:ea typeface="Arial"/>
                <a:cs typeface="Arial"/>
                <a:sym typeface="Arial"/>
              </a:rPr>
              <a:t>Interested in discovering Chicago’s rich history and vibrant arts scene</a:t>
            </a:r>
            <a:endParaRPr sz="1200">
              <a:latin typeface="Arial"/>
              <a:ea typeface="Arial"/>
              <a:cs typeface="Arial"/>
              <a:sym typeface="Arial"/>
            </a:endParaRPr>
          </a:p>
          <a:p>
            <a:pPr indent="-304800" lvl="2" marL="1371600" rtl="0" algn="l">
              <a:spcBef>
                <a:spcPts val="0"/>
              </a:spcBef>
              <a:spcAft>
                <a:spcPts val="0"/>
              </a:spcAft>
              <a:buSzPts val="1200"/>
              <a:buFont typeface="Arial"/>
              <a:buChar char="■"/>
            </a:pPr>
            <a:r>
              <a:rPr lang="en" sz="1200">
                <a:latin typeface="Arial"/>
                <a:ea typeface="Arial"/>
                <a:cs typeface="Arial"/>
                <a:sym typeface="Arial"/>
              </a:rPr>
              <a:t>Enjoys competitive elements, tracking his progress and sharing achievements</a:t>
            </a:r>
            <a:endParaRPr sz="1390">
              <a:latin typeface="Arial"/>
              <a:ea typeface="Arial"/>
              <a:cs typeface="Arial"/>
              <a:sym typeface="Arial"/>
            </a:endParaRPr>
          </a:p>
        </p:txBody>
      </p:sp>
      <p:pic>
        <p:nvPicPr>
          <p:cNvPr id="158" name="Google Shape;158;p16"/>
          <p:cNvPicPr preferRelativeResize="0"/>
          <p:nvPr/>
        </p:nvPicPr>
        <p:blipFill>
          <a:blip r:embed="rId3">
            <a:alphaModFix/>
          </a:blip>
          <a:stretch>
            <a:fillRect/>
          </a:stretch>
        </p:blipFill>
        <p:spPr>
          <a:xfrm>
            <a:off x="8039300" y="144675"/>
            <a:ext cx="1025625" cy="1302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1297500" y="1849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solidFill>
                  <a:schemeClr val="lt2"/>
                </a:solidFill>
              </a:rPr>
              <a:t>Scenarios</a:t>
            </a:r>
            <a:endParaRPr b="1" sz="2500">
              <a:solidFill>
                <a:schemeClr val="lt2"/>
              </a:solidFill>
            </a:endParaRPr>
          </a:p>
        </p:txBody>
      </p:sp>
      <p:sp>
        <p:nvSpPr>
          <p:cNvPr id="164" name="Google Shape;164;p17"/>
          <p:cNvSpPr txBox="1"/>
          <p:nvPr>
            <p:ph idx="1" type="body"/>
          </p:nvPr>
        </p:nvSpPr>
        <p:spPr>
          <a:xfrm>
            <a:off x="897200" y="835325"/>
            <a:ext cx="8113800" cy="39600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0"/>
              </a:spcBef>
              <a:spcAft>
                <a:spcPts val="0"/>
              </a:spcAft>
              <a:buClr>
                <a:srgbClr val="F1C232"/>
              </a:buClr>
              <a:buSzPts val="1400"/>
              <a:buChar char="●"/>
            </a:pPr>
            <a:r>
              <a:rPr b="1" lang="en" sz="1400">
                <a:solidFill>
                  <a:srgbClr val="F1C232"/>
                </a:solidFill>
              </a:rPr>
              <a:t>Sharing Campus Tracking Progress with a Friend</a:t>
            </a:r>
            <a:endParaRPr b="1" sz="1400">
              <a:solidFill>
                <a:srgbClr val="F1C232"/>
              </a:solidFill>
            </a:endParaRPr>
          </a:p>
          <a:p>
            <a:pPr indent="0" lvl="0" marL="457200" rtl="0" algn="l">
              <a:lnSpc>
                <a:spcPct val="95000"/>
              </a:lnSpc>
              <a:spcBef>
                <a:spcPts val="1200"/>
              </a:spcBef>
              <a:spcAft>
                <a:spcPts val="0"/>
              </a:spcAft>
              <a:buNone/>
            </a:pPr>
            <a:r>
              <a:rPr lang="en" sz="1400"/>
              <a:t>A user  is talking to their friend about the </a:t>
            </a:r>
            <a:r>
              <a:rPr lang="en" sz="1400"/>
              <a:t>area</a:t>
            </a:r>
            <a:r>
              <a:rPr lang="en" sz="1400"/>
              <a:t> they live in -&gt; they show them how they’ve tracked where they’ve already been on campus with the app-&gt; they then share them the link to their account so they can be friends on the app</a:t>
            </a:r>
            <a:endParaRPr sz="1400"/>
          </a:p>
          <a:p>
            <a:pPr indent="-317500" lvl="0" marL="457200" rtl="0" algn="l">
              <a:lnSpc>
                <a:spcPct val="95000"/>
              </a:lnSpc>
              <a:spcBef>
                <a:spcPts val="1200"/>
              </a:spcBef>
              <a:spcAft>
                <a:spcPts val="0"/>
              </a:spcAft>
              <a:buClr>
                <a:srgbClr val="F1C232"/>
              </a:buClr>
              <a:buSzPts val="1400"/>
              <a:buChar char="●"/>
            </a:pPr>
            <a:r>
              <a:rPr b="1" lang="en" sz="1400">
                <a:solidFill>
                  <a:srgbClr val="F1C232"/>
                </a:solidFill>
              </a:rPr>
              <a:t>Exploring Landmarks After a South Loop Trip</a:t>
            </a:r>
            <a:endParaRPr b="1" sz="1400">
              <a:solidFill>
                <a:srgbClr val="F1C232"/>
              </a:solidFill>
            </a:endParaRPr>
          </a:p>
          <a:p>
            <a:pPr indent="0" lvl="0" marL="457200" rtl="0" algn="l">
              <a:lnSpc>
                <a:spcPct val="95000"/>
              </a:lnSpc>
              <a:spcBef>
                <a:spcPts val="1200"/>
              </a:spcBef>
              <a:spcAft>
                <a:spcPts val="0"/>
              </a:spcAft>
              <a:buNone/>
            </a:pPr>
            <a:r>
              <a:rPr lang="en" sz="1400"/>
              <a:t>A user arrives home from a day trip to the South Loop neighborhood, so they go to the landmarks page and filter by South Loop to see a sorted collection of the landmarks they’ve found -&gt; The user spends a few minutes reading facts about the places they just saw in the location description.</a:t>
            </a:r>
            <a:endParaRPr sz="1400"/>
          </a:p>
          <a:p>
            <a:pPr indent="-317500" lvl="0" marL="457200" rtl="0" algn="l">
              <a:lnSpc>
                <a:spcPct val="95000"/>
              </a:lnSpc>
              <a:spcBef>
                <a:spcPts val="1200"/>
              </a:spcBef>
              <a:spcAft>
                <a:spcPts val="0"/>
              </a:spcAft>
              <a:buClr>
                <a:srgbClr val="F1C232"/>
              </a:buClr>
              <a:buSzPts val="1400"/>
              <a:buChar char="●"/>
            </a:pPr>
            <a:r>
              <a:rPr b="1" lang="en" sz="1400">
                <a:solidFill>
                  <a:srgbClr val="F1C232"/>
                </a:solidFill>
              </a:rPr>
              <a:t>Discovering New Routes to Routine Destinations</a:t>
            </a:r>
            <a:endParaRPr b="1" sz="1400">
              <a:solidFill>
                <a:srgbClr val="F1C232"/>
              </a:solidFill>
            </a:endParaRPr>
          </a:p>
          <a:p>
            <a:pPr indent="0" lvl="0" marL="457200" rtl="0" algn="l">
              <a:lnSpc>
                <a:spcPct val="95000"/>
              </a:lnSpc>
              <a:spcBef>
                <a:spcPts val="1200"/>
              </a:spcBef>
              <a:spcAft>
                <a:spcPts val="1200"/>
              </a:spcAft>
              <a:buNone/>
            </a:pPr>
            <a:r>
              <a:rPr lang="en" sz="1400"/>
              <a:t>A user needs to go to the store, but is tired of the same path they take each trip. -&gt; They analyze their map, approximate an undiscovered section -&gt; User stumbles upon a landmark, and learns something new about their neighborhood</a:t>
            </a:r>
            <a:endParaRPr sz="1400"/>
          </a:p>
        </p:txBody>
      </p:sp>
      <p:pic>
        <p:nvPicPr>
          <p:cNvPr id="165" name="Google Shape;165;p17"/>
          <p:cNvPicPr preferRelativeResize="0"/>
          <p:nvPr/>
        </p:nvPicPr>
        <p:blipFill>
          <a:blip r:embed="rId3">
            <a:alphaModFix/>
          </a:blip>
          <a:stretch>
            <a:fillRect/>
          </a:stretch>
        </p:blipFill>
        <p:spPr>
          <a:xfrm>
            <a:off x="8118375" y="-9212"/>
            <a:ext cx="1025625" cy="1302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solidFill>
                  <a:schemeClr val="lt2"/>
                </a:solidFill>
              </a:rPr>
              <a:t>Implications for Design</a:t>
            </a:r>
            <a:endParaRPr b="1" sz="2500">
              <a:solidFill>
                <a:schemeClr val="lt2"/>
              </a:solidFill>
            </a:endParaRPr>
          </a:p>
        </p:txBody>
      </p:sp>
      <p:sp>
        <p:nvSpPr>
          <p:cNvPr id="171" name="Google Shape;171;p18"/>
          <p:cNvSpPr txBox="1"/>
          <p:nvPr>
            <p:ph idx="1" type="body"/>
          </p:nvPr>
        </p:nvSpPr>
        <p:spPr>
          <a:xfrm>
            <a:off x="1297500" y="1098675"/>
            <a:ext cx="7038900" cy="38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u="sng">
                <a:latin typeface="Arial"/>
                <a:ea typeface="Arial"/>
                <a:cs typeface="Arial"/>
                <a:sym typeface="Arial"/>
              </a:rPr>
              <a:t>Design and tweak features with the goal of keeping users from getting discouraged or overwhelmed:</a:t>
            </a:r>
            <a:endParaRPr b="1" sz="1100" u="sng">
              <a:latin typeface="Arial"/>
              <a:ea typeface="Arial"/>
              <a:cs typeface="Arial"/>
              <a:sym typeface="Arial"/>
            </a:endParaRPr>
          </a:p>
          <a:p>
            <a:pPr indent="0" lvl="0" marL="0" rtl="0" algn="l">
              <a:spcBef>
                <a:spcPts val="0"/>
              </a:spcBef>
              <a:spcAft>
                <a:spcPts val="0"/>
              </a:spcAft>
              <a:buNone/>
            </a:pPr>
            <a:r>
              <a:rPr lang="en" sz="1200">
                <a:latin typeface="Arial"/>
                <a:ea typeface="Arial"/>
                <a:cs typeface="Arial"/>
                <a:sym typeface="Arial"/>
              </a:rPr>
              <a:t>In the current state of development, our app presents balancing issues that relate to some of the core concepts of the “game”.  To put it simply, Chicago is a big city. Dedicating a page in the app that allows a user to see how much of the city they’ve discovered is novel in concept, but becomes a bit harder to justify when </a:t>
            </a:r>
            <a:r>
              <a:rPr lang="en" sz="1200">
                <a:latin typeface="Arial"/>
                <a:ea typeface="Arial"/>
                <a:cs typeface="Arial"/>
                <a:sym typeface="Arial"/>
              </a:rPr>
              <a:t>functionally</a:t>
            </a:r>
            <a:r>
              <a:rPr lang="en" sz="1200">
                <a:latin typeface="Arial"/>
                <a:ea typeface="Arial"/>
                <a:cs typeface="Arial"/>
                <a:sym typeface="Arial"/>
              </a:rPr>
              <a:t>, it just puts into perspective how unreasonable it is to expect a median user to make visible progress on their *macro* map. The real solution to this problem is to potentially re-orient our app to focus on smaller areas for a user to discover, such as a college campus, but a short term answer might be to de-emphasize the completion aspect of it.</a:t>
            </a:r>
            <a:endParaRPr sz="1200">
              <a:latin typeface="Arial"/>
              <a:ea typeface="Arial"/>
              <a:cs typeface="Arial"/>
              <a:sym typeface="Arial"/>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b="1" lang="en" sz="1200" u="sng">
                <a:latin typeface="Arial"/>
                <a:ea typeface="Arial"/>
                <a:cs typeface="Arial"/>
                <a:sym typeface="Arial"/>
              </a:rPr>
              <a:t>Precision with what is labeled on the map and what isn’t to ensure intended usability</a:t>
            </a:r>
            <a:endParaRPr b="1" sz="1200" u="sng">
              <a:latin typeface="Arial"/>
              <a:ea typeface="Arial"/>
              <a:cs typeface="Arial"/>
              <a:sym typeface="Arial"/>
            </a:endParaRPr>
          </a:p>
          <a:p>
            <a:pPr indent="0" lvl="0" marL="0" rtl="0" algn="l">
              <a:spcBef>
                <a:spcPts val="0"/>
              </a:spcBef>
              <a:spcAft>
                <a:spcPts val="0"/>
              </a:spcAft>
              <a:buNone/>
            </a:pPr>
            <a:r>
              <a:rPr lang="en" sz="1200">
                <a:latin typeface="Arial"/>
                <a:ea typeface="Arial"/>
                <a:cs typeface="Arial"/>
                <a:sym typeface="Arial"/>
              </a:rPr>
              <a:t>One of the aspects of this app which is immensely important to user experience is how we display our information to our users. Things like roads, food markers, and pre-packed points of interest conflict with the locations we want to include as part of our app. Neglecting those features isn’t possible with the free version of our map library, so keeping them from distracting the UE is a high priority. </a:t>
            </a:r>
            <a:r>
              <a:rPr lang="en" sz="1200">
                <a:latin typeface="Arial"/>
                <a:ea typeface="Arial"/>
                <a:cs typeface="Arial"/>
                <a:sym typeface="Arial"/>
              </a:rPr>
              <a:t>Additionally</a:t>
            </a:r>
            <a:r>
              <a:rPr lang="en" sz="1200">
                <a:latin typeface="Arial"/>
                <a:ea typeface="Arial"/>
                <a:cs typeface="Arial"/>
                <a:sym typeface="Arial"/>
              </a:rPr>
              <a:t>, added labeling can be implemented in our neighborhood data, such as neighborhood names. Lastly, we want to discourage users from “exploring” potentially dangerous places labeled on our map as explorable, such as highways or airports.</a:t>
            </a:r>
            <a:endParaRPr sz="1200">
              <a:latin typeface="Arial"/>
              <a:ea typeface="Arial"/>
              <a:cs typeface="Arial"/>
              <a:sym typeface="Arial"/>
            </a:endParaRPr>
          </a:p>
        </p:txBody>
      </p:sp>
      <p:pic>
        <p:nvPicPr>
          <p:cNvPr id="172" name="Google Shape;172;p18"/>
          <p:cNvPicPr preferRelativeResize="0"/>
          <p:nvPr/>
        </p:nvPicPr>
        <p:blipFill>
          <a:blip r:embed="rId3">
            <a:alphaModFix/>
          </a:blip>
          <a:stretch>
            <a:fillRect/>
          </a:stretch>
        </p:blipFill>
        <p:spPr>
          <a:xfrm>
            <a:off x="8039300" y="144675"/>
            <a:ext cx="1025625" cy="1302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solidFill>
                  <a:schemeClr val="lt2"/>
                </a:solidFill>
              </a:rPr>
              <a:t>Information Design</a:t>
            </a:r>
            <a:endParaRPr b="1" sz="2500">
              <a:solidFill>
                <a:schemeClr val="lt2"/>
              </a:solidFill>
            </a:endParaRPr>
          </a:p>
        </p:txBody>
      </p:sp>
      <p:sp>
        <p:nvSpPr>
          <p:cNvPr id="178" name="Google Shape;178;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Font typeface="Arial"/>
              <a:buChar char="●"/>
            </a:pPr>
            <a:r>
              <a:rPr lang="en" sz="1100">
                <a:latin typeface="Arial"/>
                <a:ea typeface="Arial"/>
                <a:cs typeface="Arial"/>
                <a:sym typeface="Arial"/>
              </a:rPr>
              <a:t>Neighborhood map boundaries denoted with GeoJSON coordinate data, rendered by Leaflet Javascript Library.</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
                <a:latin typeface="Arial"/>
                <a:ea typeface="Arial"/>
                <a:cs typeface="Arial"/>
                <a:sym typeface="Arial"/>
              </a:rPr>
              <a:t>Allows us to upload publicly available boundary data for all of chicago neighborhoods as a collection of polygons, giving us the ability to display each neighborhood as their own unique, actionable entity</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User’s location data denoted with GeoJSON coordinates, applied to neighborhood map data using Turf.js </a:t>
            </a:r>
            <a:r>
              <a:rPr lang="en" sz="1100">
                <a:latin typeface="Arial"/>
                <a:ea typeface="Arial"/>
                <a:cs typeface="Arial"/>
                <a:sym typeface="Arial"/>
              </a:rPr>
              <a:t>geospatial</a:t>
            </a:r>
            <a:r>
              <a:rPr lang="en" sz="1100">
                <a:latin typeface="Arial"/>
                <a:ea typeface="Arial"/>
                <a:cs typeface="Arial"/>
                <a:sym typeface="Arial"/>
              </a:rPr>
              <a:t> toolkit.</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
                <a:latin typeface="Arial"/>
                <a:ea typeface="Arial"/>
                <a:cs typeface="Arial"/>
                <a:sym typeface="Arial"/>
              </a:rPr>
              <a:t>Allows us to apply more mathematical functions to the boundary data, such as calculating the areas of each neighborhood (for user </a:t>
            </a:r>
            <a:r>
              <a:rPr lang="en">
                <a:latin typeface="Arial"/>
                <a:ea typeface="Arial"/>
                <a:cs typeface="Arial"/>
                <a:sym typeface="Arial"/>
              </a:rPr>
              <a:t>completion</a:t>
            </a:r>
            <a:r>
              <a:rPr lang="en">
                <a:latin typeface="Arial"/>
                <a:ea typeface="Arial"/>
                <a:cs typeface="Arial"/>
                <a:sym typeface="Arial"/>
              </a:rPr>
              <a:t> percentages) as well as applying intersections between multiple sets of polygons (allows us to “subtract” the explored user area from the original neighborhood data upon rendering).</a:t>
            </a:r>
            <a:endParaRPr sz="1100">
              <a:latin typeface="Arial"/>
              <a:ea typeface="Arial"/>
              <a:cs typeface="Arial"/>
              <a:sym typeface="Arial"/>
            </a:endParaRPr>
          </a:p>
        </p:txBody>
      </p:sp>
      <p:pic>
        <p:nvPicPr>
          <p:cNvPr id="179" name="Google Shape;179;p19"/>
          <p:cNvPicPr preferRelativeResize="0"/>
          <p:nvPr/>
        </p:nvPicPr>
        <p:blipFill>
          <a:blip r:embed="rId3">
            <a:alphaModFix/>
          </a:blip>
          <a:stretch>
            <a:fillRect/>
          </a:stretch>
        </p:blipFill>
        <p:spPr>
          <a:xfrm>
            <a:off x="8039300" y="144675"/>
            <a:ext cx="1025625" cy="1302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2"/>
                </a:solidFill>
              </a:rPr>
              <a:t>Link to Prototype</a:t>
            </a:r>
            <a:endParaRPr b="1">
              <a:solidFill>
                <a:schemeClr val="lt2"/>
              </a:solidFill>
            </a:endParaRPr>
          </a:p>
        </p:txBody>
      </p:sp>
      <p:sp>
        <p:nvSpPr>
          <p:cNvPr id="185" name="Google Shape;185;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u="sng">
                <a:solidFill>
                  <a:schemeClr val="hlink"/>
                </a:solidFill>
                <a:latin typeface="Arial"/>
                <a:ea typeface="Arial"/>
                <a:cs typeface="Arial"/>
                <a:sym typeface="Arial"/>
                <a:hlinkClick r:id="rId3"/>
              </a:rPr>
              <a:t>https://github.com/GageBergmann/422-Project</a:t>
            </a:r>
            <a:endParaRPr/>
          </a:p>
          <a:p>
            <a:pPr indent="0" lvl="0" marL="0" rtl="0" algn="l">
              <a:spcBef>
                <a:spcPts val="1200"/>
              </a:spcBef>
              <a:spcAft>
                <a:spcPts val="0"/>
              </a:spcAft>
              <a:buNone/>
            </a:pPr>
            <a:r>
              <a:rPr lang="en"/>
              <a:t>To use:</a:t>
            </a:r>
            <a:endParaRPr/>
          </a:p>
          <a:p>
            <a:pPr indent="-311150" lvl="0" marL="457200" rtl="0" algn="l">
              <a:spcBef>
                <a:spcPts val="1200"/>
              </a:spcBef>
              <a:spcAft>
                <a:spcPts val="0"/>
              </a:spcAft>
              <a:buSzPts val="1300"/>
              <a:buAutoNum type="arabicPeriod"/>
            </a:pPr>
            <a:r>
              <a:rPr lang="en"/>
              <a:t>Load repository on IDE.</a:t>
            </a:r>
            <a:endParaRPr/>
          </a:p>
          <a:p>
            <a:pPr indent="-311150" lvl="0" marL="457200" rtl="0" algn="l">
              <a:spcBef>
                <a:spcPts val="0"/>
              </a:spcBef>
              <a:spcAft>
                <a:spcPts val="0"/>
              </a:spcAft>
              <a:buSzPts val="1300"/>
              <a:buAutoNum type="arabicPeriod"/>
            </a:pPr>
            <a:r>
              <a:rPr lang="en"/>
              <a:t>Navigate to </a:t>
            </a:r>
            <a:r>
              <a:rPr i="1" lang="en"/>
              <a:t>UnlockChicagoSignIn.html</a:t>
            </a:r>
            <a:endParaRPr i="1"/>
          </a:p>
          <a:p>
            <a:pPr indent="-311150" lvl="0" marL="457200" rtl="0" algn="l">
              <a:spcBef>
                <a:spcPts val="0"/>
              </a:spcBef>
              <a:spcAft>
                <a:spcPts val="0"/>
              </a:spcAft>
              <a:buSzPts val="1300"/>
              <a:buAutoNum type="arabicPeriod"/>
            </a:pPr>
            <a:r>
              <a:rPr lang="en"/>
              <a:t>Launch with live server</a:t>
            </a:r>
            <a:endParaRPr/>
          </a:p>
        </p:txBody>
      </p:sp>
      <p:pic>
        <p:nvPicPr>
          <p:cNvPr id="186" name="Google Shape;186;p20"/>
          <p:cNvPicPr preferRelativeResize="0"/>
          <p:nvPr/>
        </p:nvPicPr>
        <p:blipFill>
          <a:blip r:embed="rId4">
            <a:alphaModFix/>
          </a:blip>
          <a:stretch>
            <a:fillRect/>
          </a:stretch>
        </p:blipFill>
        <p:spPr>
          <a:xfrm>
            <a:off x="8260550" y="144675"/>
            <a:ext cx="804375" cy="1021425"/>
          </a:xfrm>
          <a:prstGeom prst="rect">
            <a:avLst/>
          </a:prstGeom>
          <a:noFill/>
          <a:ln>
            <a:noFill/>
          </a:ln>
        </p:spPr>
      </p:pic>
      <p:pic>
        <p:nvPicPr>
          <p:cNvPr id="187" name="Google Shape;187;p20"/>
          <p:cNvPicPr preferRelativeResize="0"/>
          <p:nvPr/>
        </p:nvPicPr>
        <p:blipFill>
          <a:blip r:embed="rId5">
            <a:alphaModFix/>
          </a:blip>
          <a:stretch>
            <a:fillRect/>
          </a:stretch>
        </p:blipFill>
        <p:spPr>
          <a:xfrm>
            <a:off x="5281401" y="532500"/>
            <a:ext cx="2223826" cy="3829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8600"/>
          </a:p>
        </p:txBody>
      </p:sp>
      <p:sp>
        <p:nvSpPr>
          <p:cNvPr id="193" name="Google Shape;193;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4" name="Google Shape;194;p21"/>
          <p:cNvPicPr preferRelativeResize="0"/>
          <p:nvPr/>
        </p:nvPicPr>
        <p:blipFill>
          <a:blip r:embed="rId3">
            <a:alphaModFix/>
          </a:blip>
          <a:stretch>
            <a:fillRect/>
          </a:stretch>
        </p:blipFill>
        <p:spPr>
          <a:xfrm>
            <a:off x="16325" y="-84488"/>
            <a:ext cx="9111350" cy="5312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